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2" r:id="rId1"/>
    <p:sldMasterId id="2147483653" r:id="rId2"/>
  </p:sldMasterIdLst>
  <p:notesMasterIdLst>
    <p:notesMasterId r:id="rId2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3" r:id="rId19"/>
    <p:sldId id="274" r:id="rId20"/>
    <p:sldId id="277" r:id="rId21"/>
    <p:sldId id="279" r:id="rId22"/>
    <p:sldId id="278" r:id="rId23"/>
    <p:sldId id="275" r:id="rId24"/>
    <p:sldId id="271" r:id="rId2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3"/>
    <p:restoredTop sz="94550"/>
  </p:normalViewPr>
  <p:slideViewPr>
    <p:cSldViewPr snapToGrid="0">
      <p:cViewPr varScale="1">
        <p:scale>
          <a:sx n="121" d="100"/>
          <a:sy n="121" d="100"/>
        </p:scale>
        <p:origin x="1728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96e322a99f_0_4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g396e322a99f_0_4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96e322a99f_0_4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96e322a99f_0_4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g396e322a99f_0_4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6e322a99f_0_4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6e322a99f_0_4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396e322a99f_0_4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6e322a99f_0_4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6e322a99f_0_4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g396e322a99f_0_4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6e322a99f_0_4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6e322a99f_0_4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396e322a99f_0_47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6e322a99f_0_4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6e322a99f_0_4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can drop the image resolution for faster execution</a:t>
            </a:r>
            <a:endParaRPr dirty="0"/>
          </a:p>
        </p:txBody>
      </p:sp>
      <p:sp>
        <p:nvSpPr>
          <p:cNvPr id="91" name="Google Shape;91;g396e322a99f_0_4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6f1aa603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6f1aa603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Data </a:t>
            </a:r>
            <a:r>
              <a:rPr lang="en-US" dirty="0" err="1"/>
              <a:t>Collectiojn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Data cleaning 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Output files </a:t>
            </a:r>
            <a:r>
              <a:rPr lang="en-US" dirty="0" err="1"/>
              <a:t>usabvle</a:t>
            </a:r>
            <a:r>
              <a:rPr lang="en-US" dirty="0"/>
              <a:t> by others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JSON/ formatting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Reusable</a:t>
            </a:r>
            <a:endParaRPr dirty="0"/>
          </a:p>
        </p:txBody>
      </p:sp>
      <p:sp>
        <p:nvSpPr>
          <p:cNvPr id="99" name="Google Shape;99;g386f1aa603f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edd082b3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edd082b3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Data </a:t>
            </a:r>
            <a:r>
              <a:rPr lang="en-US" dirty="0" err="1"/>
              <a:t>Collectiojn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Data cleaning 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Output files </a:t>
            </a:r>
            <a:r>
              <a:rPr lang="en-US" dirty="0" err="1"/>
              <a:t>usabvle</a:t>
            </a:r>
            <a:r>
              <a:rPr lang="en-US" dirty="0"/>
              <a:t> by others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JSON/ formatting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Reusable</a:t>
            </a:r>
            <a:endParaRPr dirty="0"/>
          </a:p>
        </p:txBody>
      </p:sp>
      <p:sp>
        <p:nvSpPr>
          <p:cNvPr id="107" name="Google Shape;107;g3dedd082b33_0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6f1aa603f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6f1aa603f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Data Collection</a:t>
            </a:r>
            <a:endParaRPr dirty="0"/>
          </a:p>
        </p:txBody>
      </p:sp>
      <p:sp>
        <p:nvSpPr>
          <p:cNvPr id="115" name="Google Shape;115;g386f1aa603f_0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edd082b33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edd082b33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Data Collection</a:t>
            </a:r>
            <a:endParaRPr dirty="0"/>
          </a:p>
        </p:txBody>
      </p:sp>
      <p:sp>
        <p:nvSpPr>
          <p:cNvPr id="123" name="Google Shape;123;g3dedd082b33_0_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edd082b3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edd082b3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3dedd082b33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edd082b33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edd082b33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3dedd082b33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6f1aa603f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6f1aa603f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simple workflow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2-3 tasks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simple test workflow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for testing the method</a:t>
            </a:r>
            <a:endParaRPr/>
          </a:p>
        </p:txBody>
      </p:sp>
      <p:sp>
        <p:nvSpPr>
          <p:cNvPr id="147" name="Google Shape;147;g386f1aa603f_0_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6f1aa603f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86f1aa603f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8 weeks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parallel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Survey -&gt; Jacob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before and after</a:t>
            </a:r>
            <a:endParaRPr dirty="0"/>
          </a:p>
        </p:txBody>
      </p:sp>
      <p:sp>
        <p:nvSpPr>
          <p:cNvPr id="155" name="Google Shape;155;g386f1aa603f_0_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71d653a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871d653a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g3871d653a41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812c86d2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812c86d2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3d812c86d2f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pcclab title">
  <p:cSld name="Hpcclab 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>
            <a:spLocks noGrp="1"/>
          </p:cNvSpPr>
          <p:nvPr>
            <p:ph type="pic" idx="2"/>
          </p:nvPr>
        </p:nvSpPr>
        <p:spPr>
          <a:xfrm>
            <a:off x="-1" y="5369442"/>
            <a:ext cx="1658679" cy="1464548"/>
          </a:xfrm>
          <a:prstGeom prst="rect">
            <a:avLst/>
          </a:prstGeom>
          <a:noFill/>
          <a:ln>
            <a:noFill/>
          </a:ln>
        </p:spPr>
      </p:sp>
      <p:pic>
        <p:nvPicPr>
          <p:cNvPr id="18" name="Google Shape;18;p2" descr="title2.jpg"/>
          <p:cNvPicPr preferRelativeResize="0"/>
          <p:nvPr/>
        </p:nvPicPr>
        <p:blipFill rotWithShape="1">
          <a:blip r:embed="rId2">
            <a:alphaModFix/>
          </a:blip>
          <a:srcRect l="11810" r="15096"/>
          <a:stretch/>
        </p:blipFill>
        <p:spPr>
          <a:xfrm>
            <a:off x="7286920" y="5369442"/>
            <a:ext cx="1679810" cy="146454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 descr="UNT University of North Texas Logo PNG vector in SVG, PDF ..."/>
          <p:cNvSpPr/>
          <p:nvPr/>
        </p:nvSpPr>
        <p:spPr>
          <a:xfrm>
            <a:off x="4419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2" descr="A green logo with a bir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5192276"/>
            <a:ext cx="1951229" cy="1464548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80"/>
              </a:spcBef>
              <a:spcAft>
                <a:spcPts val="0"/>
              </a:spcAft>
              <a:buClr>
                <a:srgbClr val="888888"/>
              </a:buClr>
              <a:buSzPts val="425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pcclab content">
  <p:cSld name="Hpcclab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ct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ct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ct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ct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ct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ct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ct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ct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" name="Google Shape;27;p3" descr="title2.jpg"/>
          <p:cNvPicPr preferRelativeResize="0"/>
          <p:nvPr/>
        </p:nvPicPr>
        <p:blipFill rotWithShape="1">
          <a:blip r:embed="rId2">
            <a:alphaModFix/>
          </a:blip>
          <a:srcRect l="9555" t="24996" r="14683" b="4785"/>
          <a:stretch/>
        </p:blipFill>
        <p:spPr>
          <a:xfrm>
            <a:off x="7984503" y="6196488"/>
            <a:ext cx="1159497" cy="684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pcclab title">
  <p:cSld name="Hpcclab 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>
            <a:spLocks noGrp="1"/>
          </p:cNvSpPr>
          <p:nvPr>
            <p:ph type="pic" idx="2"/>
          </p:nvPr>
        </p:nvSpPr>
        <p:spPr>
          <a:xfrm>
            <a:off x="-1" y="5369442"/>
            <a:ext cx="1658700" cy="1464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7" name="Google Shape;37;p5" descr="title2.jpg"/>
          <p:cNvPicPr preferRelativeResize="0"/>
          <p:nvPr/>
        </p:nvPicPr>
        <p:blipFill rotWithShape="1">
          <a:blip r:embed="rId2">
            <a:alphaModFix/>
          </a:blip>
          <a:srcRect l="11812" r="15094"/>
          <a:stretch/>
        </p:blipFill>
        <p:spPr>
          <a:xfrm>
            <a:off x="7286920" y="5369442"/>
            <a:ext cx="1679809" cy="146454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 descr="UNT University of North Texas Logo PNG vector in SVG, PDF ..."/>
          <p:cNvSpPr/>
          <p:nvPr/>
        </p:nvSpPr>
        <p:spPr>
          <a:xfrm>
            <a:off x="4419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" name="Google Shape;39;p5" descr="A green logo with a bir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5192276"/>
            <a:ext cx="1951230" cy="1464547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80"/>
              </a:spcBef>
              <a:spcAft>
                <a:spcPts val="0"/>
              </a:spcAft>
              <a:buClr>
                <a:srgbClr val="888888"/>
              </a:buClr>
              <a:buSzPts val="425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pcclab content">
  <p:cSld name="Hpcclab conte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ct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ct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ct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ct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ct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ct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ct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ct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6" name="Google Shape;46;p6" descr="title2.jpg"/>
          <p:cNvPicPr preferRelativeResize="0"/>
          <p:nvPr/>
        </p:nvPicPr>
        <p:blipFill rotWithShape="1">
          <a:blip r:embed="rId2">
            <a:alphaModFix/>
          </a:blip>
          <a:srcRect l="9554" t="24998" r="14683" b="4782"/>
          <a:stretch/>
        </p:blipFill>
        <p:spPr>
          <a:xfrm>
            <a:off x="7984503" y="6196488"/>
            <a:ext cx="1159497" cy="684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4000" cy="1447800"/>
          </a:xfrm>
          <a:prstGeom prst="rect">
            <a:avLst/>
          </a:prstGeom>
          <a:solidFill>
            <a:srgbClr val="004080"/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8475" algn="l" rtl="0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4250"/>
              <a:buFont typeface="Arial"/>
              <a:buChar char="•"/>
              <a:defRPr sz="3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rgbClr val="008000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Courier New"/>
              <a:buChar char="o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008000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08000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92800" y="630932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9144000" cy="1447800"/>
          </a:xfrm>
          <a:prstGeom prst="rect">
            <a:avLst/>
          </a:prstGeom>
          <a:solidFill>
            <a:srgbClr val="004080"/>
          </a:solidFill>
          <a:ln>
            <a:noFill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8475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4250"/>
              <a:buFont typeface="Arial"/>
              <a:buChar char="•"/>
              <a:defRPr sz="3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spcBef>
                <a:spcPts val="560"/>
              </a:spcBef>
              <a:spcAft>
                <a:spcPts val="0"/>
              </a:spcAft>
              <a:buClr>
                <a:srgbClr val="008000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spcBef>
                <a:spcPts val="48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Courier New"/>
              <a:buChar char="o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rgbClr val="008000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rgbClr val="008000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6592800" y="630932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aleonpz/iot_cloud_infrastructure" TargetMode="Externa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ctrTitle"/>
          </p:nvPr>
        </p:nvSpPr>
        <p:spPr>
          <a:xfrm>
            <a:off x="510750" y="2274200"/>
            <a:ext cx="8122500" cy="10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60" b="1">
                <a:solidFill>
                  <a:schemeClr val="dk1"/>
                </a:solidFill>
              </a:rPr>
              <a:t>Validation of Approximate DAG Processing in Federated Fog Systems</a:t>
            </a:r>
            <a:endParaRPr sz="2560" b="1">
              <a:solidFill>
                <a:schemeClr val="dk1"/>
              </a:solidFill>
            </a:endParaRPr>
          </a:p>
        </p:txBody>
      </p:sp>
      <p:sp>
        <p:nvSpPr>
          <p:cNvPr id="52" name="Google Shape;52;p7"/>
          <p:cNvSpPr txBox="1">
            <a:spLocks noGrp="1"/>
          </p:cNvSpPr>
          <p:nvPr>
            <p:ph type="subTitle" idx="1"/>
          </p:nvPr>
        </p:nvSpPr>
        <p:spPr>
          <a:xfrm>
            <a:off x="1371600" y="4415753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8"/>
              <a:buFont typeface="Arial"/>
              <a:buNone/>
            </a:pPr>
            <a:r>
              <a:rPr lang="en-US" sz="1910" b="1">
                <a:solidFill>
                  <a:schemeClr val="dk1"/>
                </a:solidFill>
              </a:rPr>
              <a:t>NSF IRES Project SUBR Cohort, 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8"/>
              <a:buFont typeface="Arial"/>
              <a:buNone/>
            </a:pPr>
            <a:r>
              <a:rPr lang="en-US" sz="1910" b="1">
                <a:solidFill>
                  <a:schemeClr val="dk1"/>
                </a:solidFill>
              </a:rPr>
              <a:t>Advisor: Dr. Mathieu Korouma</a:t>
            </a:r>
            <a:endParaRPr sz="1910" b="1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8"/>
              <a:buFont typeface="Arial"/>
              <a:buNone/>
            </a:pPr>
            <a:r>
              <a:rPr lang="en-US" sz="1910" b="1">
                <a:solidFill>
                  <a:schemeClr val="dk1"/>
                </a:solidFill>
              </a:rPr>
              <a:t>Prepared by: Tapajit Chandra Paul and Mohsen Amini</a:t>
            </a:r>
            <a:endParaRPr sz="1815"/>
          </a:p>
          <a:p>
            <a:pPr marL="0" lvl="0" indent="0" algn="ctr" rtl="0">
              <a:lnSpc>
                <a:spcPct val="90000"/>
              </a:lnSpc>
              <a:spcBef>
                <a:spcPts val="396"/>
              </a:spcBef>
              <a:spcAft>
                <a:spcPts val="0"/>
              </a:spcAft>
              <a:buClr>
                <a:schemeClr val="dk1"/>
              </a:buClr>
              <a:buSzPts val="2138"/>
              <a:buFont typeface="Arial"/>
              <a:buNone/>
            </a:pPr>
            <a:r>
              <a:rPr lang="en-US" sz="1910" b="1">
                <a:solidFill>
                  <a:schemeClr val="dk1"/>
                </a:solidFill>
              </a:rPr>
              <a:t>High Performance Cloud Computing Lab (HPCC)</a:t>
            </a:r>
            <a:endParaRPr sz="1815"/>
          </a:p>
          <a:p>
            <a:pPr marL="0" lvl="0" indent="0" algn="ctr" rtl="0">
              <a:lnSpc>
                <a:spcPct val="90000"/>
              </a:lnSpc>
              <a:spcBef>
                <a:spcPts val="396"/>
              </a:spcBef>
              <a:spcAft>
                <a:spcPts val="0"/>
              </a:spcAft>
              <a:buClr>
                <a:schemeClr val="dk1"/>
              </a:buClr>
              <a:buSzPts val="2138"/>
              <a:buFont typeface="Arial"/>
              <a:buNone/>
            </a:pPr>
            <a:r>
              <a:rPr lang="en-US" sz="1910">
                <a:solidFill>
                  <a:schemeClr val="dk1"/>
                </a:solidFill>
              </a:rPr>
              <a:t>Computer Science and Engineering</a:t>
            </a:r>
            <a:endParaRPr sz="1815"/>
          </a:p>
          <a:p>
            <a:pPr marL="0" lvl="0" indent="0" algn="ctr" rtl="0">
              <a:lnSpc>
                <a:spcPct val="90000"/>
              </a:lnSpc>
              <a:spcBef>
                <a:spcPts val="396"/>
              </a:spcBef>
              <a:spcAft>
                <a:spcPts val="0"/>
              </a:spcAft>
              <a:buClr>
                <a:schemeClr val="dk1"/>
              </a:buClr>
              <a:buSzPts val="2138"/>
              <a:buFont typeface="Arial"/>
              <a:buNone/>
            </a:pPr>
            <a:r>
              <a:rPr lang="en-US" sz="1910">
                <a:solidFill>
                  <a:schemeClr val="dk1"/>
                </a:solidFill>
              </a:rPr>
              <a:t>University of North Texas</a:t>
            </a:r>
            <a:endParaRPr sz="1815"/>
          </a:p>
          <a:p>
            <a:pPr marL="0" lvl="0" indent="0" algn="ctr" rtl="0">
              <a:lnSpc>
                <a:spcPct val="90000"/>
              </a:lnSpc>
              <a:spcBef>
                <a:spcPts val="396"/>
              </a:spcBef>
              <a:spcAft>
                <a:spcPts val="0"/>
              </a:spcAft>
              <a:buClr>
                <a:schemeClr val="dk1"/>
              </a:buClr>
              <a:buSzPts val="2138"/>
              <a:buFont typeface="Arial"/>
              <a:buNone/>
            </a:pPr>
            <a:r>
              <a:rPr lang="en-US" sz="1910">
                <a:solidFill>
                  <a:schemeClr val="dk1"/>
                </a:solidFill>
              </a:rPr>
              <a:t>Apr 21, 2026</a:t>
            </a:r>
            <a:endParaRPr sz="1530"/>
          </a:p>
          <a:p>
            <a:pPr marL="0" lvl="0" indent="0" algn="ctr" rtl="0">
              <a:lnSpc>
                <a:spcPct val="90000"/>
              </a:lnSpc>
              <a:spcBef>
                <a:spcPts val="374"/>
              </a:spcBef>
              <a:spcAft>
                <a:spcPts val="0"/>
              </a:spcAft>
              <a:buClr>
                <a:srgbClr val="888888"/>
              </a:buClr>
              <a:buSzPts val="2019"/>
              <a:buFont typeface="Arial"/>
              <a:buNone/>
            </a:pPr>
            <a:endParaRPr sz="1815"/>
          </a:p>
          <a:p>
            <a:pPr marL="0" lvl="0" indent="0" algn="ctr" rtl="0">
              <a:lnSpc>
                <a:spcPct val="90000"/>
              </a:lnSpc>
              <a:spcBef>
                <a:spcPts val="374"/>
              </a:spcBef>
              <a:spcAft>
                <a:spcPts val="0"/>
              </a:spcAft>
              <a:buClr>
                <a:srgbClr val="888888"/>
              </a:buClr>
              <a:buSzPts val="2019"/>
              <a:buNone/>
            </a:pPr>
            <a:endParaRPr sz="191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3367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860"/>
              <a:t>Motivation</a:t>
            </a:r>
            <a:endParaRPr sz="3860"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60" name="Google Shape;60;p8"/>
          <p:cNvSpPr txBox="1"/>
          <p:nvPr/>
        </p:nvSpPr>
        <p:spPr>
          <a:xfrm>
            <a:off x="155075" y="1563600"/>
            <a:ext cx="9144000" cy="52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❖"/>
            </a:pP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real applications run as </a:t>
            </a:r>
            <a:r>
              <a:rPr lang="en-US" sz="19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workflow pipelines (DAGs)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➢"/>
            </a:pP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oil </a:t>
            </a:r>
            <a:r>
              <a:rPr lang="en-US" sz="19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spill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detection</a:t>
            </a:r>
            <a:endParaRPr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➢"/>
            </a:pPr>
            <a:r>
              <a:rPr lang="en-US" sz="19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fire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detection</a:t>
            </a:r>
            <a:endParaRPr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➢"/>
            </a:pPr>
            <a:r>
              <a:rPr lang="en-US" sz="19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analytics</a:t>
            </a:r>
            <a:endParaRPr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➢"/>
            </a:pP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IoT </a:t>
            </a:r>
            <a:r>
              <a:rPr lang="en-US" sz="19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processing</a:t>
            </a:r>
            <a:endParaRPr sz="19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❖"/>
            </a:pP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workflows must:</a:t>
            </a:r>
            <a:endParaRPr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➢"/>
            </a:pPr>
            <a:r>
              <a:rPr lang="en-US" sz="19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meet deadlines</a:t>
            </a:r>
            <a:endParaRPr sz="19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➢"/>
            </a:pPr>
            <a:r>
              <a:rPr lang="en-US" sz="19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execute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across </a:t>
            </a:r>
            <a:r>
              <a:rPr lang="en-US" sz="19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distributed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(fog/cloud) nodes</a:t>
            </a:r>
            <a:endParaRPr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➢"/>
            </a:pPr>
            <a:r>
              <a:rPr lang="en-US" sz="19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trade accuracy</a:t>
            </a: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faster execution</a:t>
            </a:r>
            <a:endParaRPr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❖"/>
            </a:pP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previous papers propose approximate DAG scheduling using:</a:t>
            </a:r>
            <a:endParaRPr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➢"/>
            </a:pP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MILP optimization</a:t>
            </a:r>
            <a:endParaRPr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➢"/>
            </a:pP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Greedy scheduling</a:t>
            </a:r>
            <a:endParaRPr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p8" title="Screenshot 2026-04-07 at 6.21.4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6450" y="2183874"/>
            <a:ext cx="4648100" cy="222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660"/>
              <a:t>Scheduling Challenge in Fog Systems</a:t>
            </a:r>
            <a:endParaRPr sz="3660"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5732100" cy="498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2200"/>
              <a:buChar char="❖"/>
            </a:pPr>
            <a:r>
              <a:rPr lang="en-US" sz="2200" dirty="0"/>
              <a:t>Scheduling workflows across distributed nodes is difficult because:</a:t>
            </a:r>
            <a:endParaRPr sz="22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➢"/>
            </a:pPr>
            <a:r>
              <a:rPr lang="en-US" sz="2000" b="1" dirty="0"/>
              <a:t>heterogeneous</a:t>
            </a:r>
            <a:r>
              <a:rPr lang="en-US" sz="2000" dirty="0"/>
              <a:t> compute resources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➢"/>
            </a:pPr>
            <a:r>
              <a:rPr lang="en-US" sz="2000" dirty="0"/>
              <a:t>communication </a:t>
            </a:r>
            <a:r>
              <a:rPr lang="en-US" sz="2000" b="1" dirty="0"/>
              <a:t>delays</a:t>
            </a:r>
            <a:endParaRPr sz="2000" b="1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➢"/>
            </a:pPr>
            <a:r>
              <a:rPr lang="en-US" sz="2000" dirty="0"/>
              <a:t>workflow </a:t>
            </a:r>
            <a:r>
              <a:rPr lang="en-US" sz="2000" b="1" dirty="0"/>
              <a:t>dependencies</a:t>
            </a:r>
            <a:r>
              <a:rPr lang="en-US" sz="2000" dirty="0"/>
              <a:t> (DAG structure)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➢"/>
            </a:pPr>
            <a:r>
              <a:rPr lang="en-US" sz="2000" b="1" dirty="0"/>
              <a:t>deadline</a:t>
            </a:r>
            <a:r>
              <a:rPr lang="en-US" sz="2000" dirty="0"/>
              <a:t> constraints</a:t>
            </a:r>
            <a:endParaRPr sz="2000" dirty="0"/>
          </a:p>
          <a:p>
            <a:pPr marL="914400" lvl="0" indent="0" algn="l" rtl="0">
              <a:lnSpc>
                <a:spcPct val="95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-368300" algn="l" rtl="0">
              <a:lnSpc>
                <a:spcPct val="95000"/>
              </a:lnSpc>
              <a:spcBef>
                <a:spcPts val="360"/>
              </a:spcBef>
              <a:spcAft>
                <a:spcPts val="0"/>
              </a:spcAft>
              <a:buSzPts val="2200"/>
              <a:buChar char="❖"/>
            </a:pPr>
            <a:r>
              <a:rPr lang="en-US" sz="2200" dirty="0"/>
              <a:t>Key decision:</a:t>
            </a:r>
            <a:endParaRPr sz="2200" dirty="0"/>
          </a:p>
          <a:p>
            <a:pPr marL="914400" lvl="1" indent="-3683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Char char="➢"/>
            </a:pPr>
            <a:r>
              <a:rPr lang="en-US" sz="2200" b="1" dirty="0"/>
              <a:t>Where</a:t>
            </a:r>
            <a:r>
              <a:rPr lang="en-US" sz="2200" dirty="0"/>
              <a:t> should each </a:t>
            </a:r>
            <a:r>
              <a:rPr lang="en-US" sz="2200" b="1" dirty="0"/>
              <a:t>task run</a:t>
            </a:r>
            <a:r>
              <a:rPr lang="en-US" sz="2200" dirty="0"/>
              <a:t> and at what accuracy level?</a:t>
            </a:r>
            <a:endParaRPr sz="2200" dirty="0"/>
          </a:p>
          <a:p>
            <a:pPr marL="457200" lvl="0" indent="0" algn="l" rtl="0">
              <a:lnSpc>
                <a:spcPct val="95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-368300" algn="l" rtl="0">
              <a:lnSpc>
                <a:spcPct val="95000"/>
              </a:lnSpc>
              <a:spcBef>
                <a:spcPts val="360"/>
              </a:spcBef>
              <a:spcAft>
                <a:spcPts val="0"/>
              </a:spcAft>
              <a:buSzPts val="2200"/>
              <a:buChar char="❖"/>
            </a:pPr>
            <a:r>
              <a:rPr lang="en-US" sz="2200" dirty="0"/>
              <a:t>Goal:</a:t>
            </a:r>
            <a:endParaRPr sz="2200" dirty="0"/>
          </a:p>
          <a:p>
            <a:pPr marL="914400" lvl="1" indent="-3683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Char char="➢"/>
            </a:pPr>
            <a:r>
              <a:rPr lang="en-US" sz="2200" dirty="0"/>
              <a:t>Balance accuracy, latency, and resource efficiency.</a:t>
            </a:r>
            <a:endParaRPr sz="2200" dirty="0"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70" name="Google Shape;70;p9" title="Screenshot 2026-04-07 at 6.27.28 PM.png"/>
          <p:cNvPicPr preferRelativeResize="0"/>
          <p:nvPr/>
        </p:nvPicPr>
        <p:blipFill rotWithShape="1">
          <a:blip r:embed="rId3">
            <a:alphaModFix/>
          </a:blip>
          <a:srcRect l="4187"/>
          <a:stretch/>
        </p:blipFill>
        <p:spPr>
          <a:xfrm>
            <a:off x="6189375" y="1600198"/>
            <a:ext cx="2954626" cy="316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Objectives</a:t>
            </a:r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body" idx="1"/>
          </p:nvPr>
        </p:nvSpPr>
        <p:spPr>
          <a:xfrm>
            <a:off x="228600" y="1600200"/>
            <a:ext cx="88053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3972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750"/>
              <a:buChar char="❖"/>
            </a:pPr>
            <a:r>
              <a:rPr lang="en-US" sz="2900" dirty="0"/>
              <a:t>Build benchmark </a:t>
            </a:r>
            <a:r>
              <a:rPr lang="en-US" sz="2900" b="1" dirty="0"/>
              <a:t>dataset</a:t>
            </a:r>
            <a:r>
              <a:rPr lang="en-US" sz="2900" dirty="0"/>
              <a:t> of </a:t>
            </a:r>
            <a:r>
              <a:rPr lang="en-US" sz="2900" b="1" dirty="0"/>
              <a:t>realistic</a:t>
            </a:r>
            <a:r>
              <a:rPr lang="en-US" sz="2900" dirty="0"/>
              <a:t> </a:t>
            </a:r>
            <a:r>
              <a:rPr lang="en-US" sz="2900" b="1" dirty="0"/>
              <a:t>DAG</a:t>
            </a:r>
            <a:r>
              <a:rPr lang="en-US" sz="2900" dirty="0"/>
              <a:t> workflows</a:t>
            </a:r>
            <a:endParaRPr sz="2900" dirty="0"/>
          </a:p>
          <a:p>
            <a:pPr marL="457200" lvl="0" indent="-3397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50"/>
              <a:buChar char="❖"/>
            </a:pPr>
            <a:r>
              <a:rPr lang="en-US" sz="2900" b="1" dirty="0"/>
              <a:t>Profile</a:t>
            </a:r>
            <a:r>
              <a:rPr lang="en-US" sz="2900" dirty="0"/>
              <a:t> task </a:t>
            </a:r>
            <a:r>
              <a:rPr lang="en-US" sz="2900" b="1" dirty="0"/>
              <a:t>runtime</a:t>
            </a:r>
            <a:r>
              <a:rPr lang="en-US" sz="2900" dirty="0"/>
              <a:t> on different servers</a:t>
            </a:r>
            <a:endParaRPr sz="2900" dirty="0"/>
          </a:p>
          <a:p>
            <a:pPr marL="457200" lvl="0" indent="-3397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50"/>
              <a:buChar char="❖"/>
            </a:pPr>
            <a:r>
              <a:rPr lang="en-US" sz="2900" dirty="0"/>
              <a:t>Measure </a:t>
            </a:r>
            <a:r>
              <a:rPr lang="en-US" sz="2900" b="1" dirty="0"/>
              <a:t>communication delay</a:t>
            </a:r>
            <a:r>
              <a:rPr lang="en-US" sz="2900" dirty="0"/>
              <a:t> between nodes</a:t>
            </a:r>
            <a:endParaRPr sz="2900" dirty="0"/>
          </a:p>
          <a:p>
            <a:pPr marL="457200" lvl="0" indent="-3397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50"/>
              <a:buChar char="❖"/>
            </a:pPr>
            <a:r>
              <a:rPr lang="en-US" sz="2900" b="1" dirty="0"/>
              <a:t>Deploy</a:t>
            </a:r>
            <a:r>
              <a:rPr lang="en-US" sz="2900" dirty="0"/>
              <a:t> workflows </a:t>
            </a:r>
            <a:r>
              <a:rPr lang="en-US" sz="2900" b="1" dirty="0"/>
              <a:t>across federated fog</a:t>
            </a:r>
            <a:r>
              <a:rPr lang="en-US" sz="2900" dirty="0"/>
              <a:t> testbed</a:t>
            </a:r>
            <a:endParaRPr sz="2900" dirty="0"/>
          </a:p>
          <a:p>
            <a:pPr marL="457200" lvl="0" indent="-3397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50"/>
              <a:buChar char="❖"/>
            </a:pPr>
            <a:r>
              <a:rPr lang="en-US" sz="2900" b="1" dirty="0"/>
              <a:t>Validate</a:t>
            </a:r>
            <a:r>
              <a:rPr lang="en-US" sz="2900" dirty="0"/>
              <a:t> Greedy and MILP scheduling</a:t>
            </a:r>
            <a:endParaRPr sz="2900" dirty="0"/>
          </a:p>
          <a:p>
            <a:pPr marL="457200" lvl="0" indent="-3397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50"/>
              <a:buChar char="❖"/>
            </a:pPr>
            <a:r>
              <a:rPr lang="en-US" sz="2900" b="1" dirty="0"/>
              <a:t>Fine-tune</a:t>
            </a:r>
            <a:r>
              <a:rPr lang="en-US" sz="2900" dirty="0"/>
              <a:t> approximation strategies</a:t>
            </a:r>
            <a:endParaRPr sz="2900" dirty="0"/>
          </a:p>
        </p:txBody>
      </p:sp>
      <p:sp>
        <p:nvSpPr>
          <p:cNvPr id="78" name="Google Shape;78;p10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DAG Workflow Model</a:t>
            </a:r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249325" y="1562825"/>
            <a:ext cx="42399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2000"/>
              <a:buChar char="❖"/>
            </a:pPr>
            <a:r>
              <a:rPr lang="en-US" sz="2000" dirty="0"/>
              <a:t>Workflow represented as Directed Acyclic Graph (DAG):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➢"/>
            </a:pPr>
            <a:r>
              <a:rPr lang="en-US" sz="2000" b="1" dirty="0"/>
              <a:t>Node</a:t>
            </a:r>
            <a:r>
              <a:rPr lang="en-US" sz="2000" dirty="0"/>
              <a:t> = task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➢"/>
            </a:pPr>
            <a:r>
              <a:rPr lang="en-US" sz="2000" b="1" dirty="0"/>
              <a:t>Edge</a:t>
            </a:r>
            <a:r>
              <a:rPr lang="en-US" sz="2000" dirty="0"/>
              <a:t> = dependency</a:t>
            </a:r>
            <a:endParaRPr sz="2000" dirty="0"/>
          </a:p>
          <a:p>
            <a:pPr marL="45720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2000"/>
              <a:buChar char="❖"/>
            </a:pPr>
            <a:r>
              <a:rPr lang="en-US" sz="2000" dirty="0"/>
              <a:t>Execution must follow </a:t>
            </a:r>
            <a:r>
              <a:rPr lang="en-US" sz="2000" b="1" dirty="0"/>
              <a:t>dependency</a:t>
            </a:r>
            <a:r>
              <a:rPr lang="en-US" sz="2000" dirty="0"/>
              <a:t> </a:t>
            </a:r>
            <a:r>
              <a:rPr lang="en-US" sz="2000" b="1" dirty="0"/>
              <a:t>constraints</a:t>
            </a:r>
            <a:r>
              <a:rPr lang="en-US" sz="2000" dirty="0"/>
              <a:t>.</a:t>
            </a:r>
            <a:endParaRPr sz="2000" dirty="0"/>
          </a:p>
          <a:p>
            <a:pPr marL="45720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2000"/>
              <a:buChar char="❖"/>
            </a:pPr>
            <a:r>
              <a:rPr lang="en-US" sz="2000" dirty="0"/>
              <a:t>Scheduler decides: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➢"/>
            </a:pPr>
            <a:r>
              <a:rPr lang="en-US" sz="2000" dirty="0"/>
              <a:t>task placement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➢"/>
            </a:pPr>
            <a:r>
              <a:rPr lang="en-US" sz="2000" dirty="0"/>
              <a:t>execution order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➢"/>
            </a:pPr>
            <a:r>
              <a:rPr lang="en-US" sz="2000" dirty="0"/>
              <a:t>approximation level</a:t>
            </a: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86" name="Google Shape;86;p11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87" name="Google Shape;87;p11" title="Screenshot 2026-04-07 at 6.21.4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8700" y="2388574"/>
            <a:ext cx="4648100" cy="2220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E772C30-892D-42D3-98A3-D21C3BE93E49}"/>
              </a:ext>
            </a:extLst>
          </p:cNvPr>
          <p:cNvCxnSpPr>
            <a:cxnSpLocks/>
          </p:cNvCxnSpPr>
          <p:nvPr/>
        </p:nvCxnSpPr>
        <p:spPr>
          <a:xfrm>
            <a:off x="2542032" y="2459736"/>
            <a:ext cx="1856232" cy="164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8597486-9B4B-AFA9-B2ED-5CCD1EADED52}"/>
              </a:ext>
            </a:extLst>
          </p:cNvPr>
          <p:cNvCxnSpPr/>
          <p:nvPr/>
        </p:nvCxnSpPr>
        <p:spPr>
          <a:xfrm>
            <a:off x="3319272" y="2798064"/>
            <a:ext cx="1444752" cy="192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2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Build Benchmark Dataset</a:t>
            </a:r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95" name="Google Shape;95;p12"/>
          <p:cNvSpPr txBox="1"/>
          <p:nvPr/>
        </p:nvSpPr>
        <p:spPr>
          <a:xfrm>
            <a:off x="313825" y="1572025"/>
            <a:ext cx="8830200" cy="50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Workflows: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❖"/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 Activity Recognition 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1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input → windowing → feature extraction → </a:t>
            </a:r>
          </a:p>
          <a:p>
            <a:pPr marL="97790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activity classification → alert/logging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❖"/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Machine fault / anomaly detection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1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read → filtering → FFT / feature extraction → fault classification → maintenance alert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❖"/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Fire / smoke detection from regular camera images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1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image/frame input → resize/preprocess → smoke/fire detection → confidence check → alarm generation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25BC03-CA96-E9E6-E19C-96964FDCF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201" y="1464400"/>
            <a:ext cx="2336800" cy="23472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Profiling</a:t>
            </a:r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734575" y="1621500"/>
            <a:ext cx="7068300" cy="52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❖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Measure: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➢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 runtime on each server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➢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Communication delay between nodes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❖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 performance dataset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Profiling</a:t>
            </a:r>
            <a:endParaRPr/>
          </a:p>
        </p:txBody>
      </p:sp>
      <p:sp>
        <p:nvSpPr>
          <p:cNvPr id="110" name="Google Shape;110;p14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457200" y="1621500"/>
            <a:ext cx="8541000" cy="43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Questions to answer:</a:t>
            </a:r>
            <a:endParaRPr sz="2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❖"/>
            </a:pPr>
            <a:r>
              <a:rPr lang="en-US" sz="2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long</a:t>
            </a: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does </a:t>
            </a:r>
            <a:r>
              <a:rPr lang="en-US" sz="2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task</a:t>
            </a: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take on each machine?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❖"/>
            </a:pPr>
            <a:r>
              <a:rPr lang="en-US" sz="2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</a:t>
            </a: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tasks are the </a:t>
            </a:r>
            <a:r>
              <a:rPr lang="en-US" sz="2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bottleneck</a:t>
            </a: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tasks?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❖"/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much </a:t>
            </a:r>
            <a:r>
              <a:rPr lang="en-US" sz="2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communication delay</a:t>
            </a: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exists between nodes?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93700">
              <a:lnSpc>
                <a:spcPct val="115000"/>
              </a:lnSpc>
              <a:buClr>
                <a:schemeClr val="dk1"/>
              </a:buClr>
              <a:buSzPts val="2600"/>
              <a:buFont typeface="Calibri"/>
              <a:buChar char="❖"/>
            </a:pPr>
            <a:r>
              <a:rPr lang="en-US" sz="2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</a:t>
            </a: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does </a:t>
            </a:r>
            <a:r>
              <a:rPr lang="en-US" sz="2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runtime</a:t>
            </a: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</a:t>
            </a: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different </a:t>
            </a:r>
            <a:r>
              <a:rPr lang="en-US" sz="2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approximation</a:t>
            </a: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levels?</a:t>
            </a:r>
          </a:p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❖"/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we build a </a:t>
            </a:r>
            <a:r>
              <a:rPr lang="en-US" sz="2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profiling dataset</a:t>
            </a: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that the scheduler can directly use?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Validation</a:t>
            </a:r>
            <a:endParaRPr/>
          </a:p>
        </p:txBody>
      </p:sp>
      <p:sp>
        <p:nvSpPr>
          <p:cNvPr id="118" name="Google Shape;118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71475" algn="l" rtl="0">
              <a:spcBef>
                <a:spcPts val="360"/>
              </a:spcBef>
              <a:spcAft>
                <a:spcPts val="0"/>
              </a:spcAft>
              <a:buSzPts val="2250"/>
              <a:buChar char="❖"/>
            </a:pPr>
            <a:r>
              <a:rPr lang="en-US" dirty="0"/>
              <a:t>Compare: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dirty="0"/>
              <a:t>Greedy scheduler vs MILP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dirty="0"/>
              <a:t>Full accuracy vs approximate execution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dirty="0"/>
              <a:t>Prior work 1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dirty="0"/>
              <a:t>Prior work 2</a:t>
            </a:r>
            <a:endParaRPr dirty="0"/>
          </a:p>
          <a:p>
            <a:pPr marL="457200" lvl="0" indent="-371475" algn="l" rtl="0">
              <a:spcBef>
                <a:spcPts val="360"/>
              </a:spcBef>
              <a:spcAft>
                <a:spcPts val="0"/>
              </a:spcAft>
              <a:buSzPts val="2250"/>
              <a:buChar char="❖"/>
            </a:pPr>
            <a:r>
              <a:rPr lang="en-US" dirty="0"/>
              <a:t>Metrics: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dirty="0"/>
              <a:t>deadline satisfaction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dirty="0"/>
              <a:t>accuracy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dirty="0"/>
              <a:t>latency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dirty="0"/>
              <a:t>resource usage</a:t>
            </a:r>
            <a:endParaRPr dirty="0"/>
          </a:p>
        </p:txBody>
      </p:sp>
      <p:sp>
        <p:nvSpPr>
          <p:cNvPr id="119" name="Google Shape;119;p15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Validation</a:t>
            </a:r>
            <a:endParaRPr/>
          </a:p>
        </p:txBody>
      </p:sp>
      <p:sp>
        <p:nvSpPr>
          <p:cNvPr id="126" name="Google Shape;126;p16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318150" y="1484950"/>
            <a:ext cx="8680200" cy="52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Questions to answer:</a:t>
            </a:r>
            <a:endParaRPr sz="27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❖"/>
            </a:pP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 </a:t>
            </a:r>
            <a:r>
              <a:rPr lang="en-US" sz="2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conditions</a:t>
            </a: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lang="en-US" sz="2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Greedy</a:t>
            </a: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MILP</a:t>
            </a: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make </a:t>
            </a:r>
            <a:r>
              <a:rPr lang="en-US" sz="2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</a:t>
            </a: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scheduling </a:t>
            </a:r>
            <a:r>
              <a:rPr lang="en-US" sz="2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decisions</a:t>
            </a: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❖"/>
            </a:pP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much </a:t>
            </a:r>
            <a:r>
              <a:rPr lang="en-US" sz="2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latency</a:t>
            </a: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improvement</a:t>
            </a: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 we gain from </a:t>
            </a:r>
            <a:r>
              <a:rPr lang="en-US" sz="2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approximate execution</a:t>
            </a: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how much </a:t>
            </a:r>
            <a:r>
              <a:rPr lang="en-US" sz="2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 we </a:t>
            </a:r>
            <a:r>
              <a:rPr lang="en-US" sz="2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lose</a:t>
            </a: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❖"/>
            </a:pPr>
            <a:r>
              <a:rPr lang="en-US" sz="2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workflow</a:t>
            </a: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types benefit the </a:t>
            </a:r>
            <a:r>
              <a:rPr lang="en-US" sz="2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</a:t>
            </a: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from </a:t>
            </a:r>
            <a:r>
              <a:rPr lang="en-US" sz="2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approximation-aware</a:t>
            </a: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scheduling?</a:t>
            </a:r>
            <a:endParaRPr sz="2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❖"/>
            </a:pP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extra </a:t>
            </a:r>
            <a:r>
              <a:rPr lang="en-US" sz="2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overhead/complexity</a:t>
            </a: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</a:t>
            </a:r>
            <a:r>
              <a:rPr lang="en-US" sz="2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MILP</a:t>
            </a: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justified by </a:t>
            </a:r>
            <a:r>
              <a:rPr lang="en-US" sz="2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better results</a:t>
            </a: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compared with </a:t>
            </a:r>
            <a:r>
              <a:rPr lang="en-US" sz="2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Greedy</a:t>
            </a: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Background / Tools to Prepare</a:t>
            </a:r>
            <a:endParaRPr/>
          </a:p>
        </p:txBody>
      </p:sp>
      <p:sp>
        <p:nvSpPr>
          <p:cNvPr id="134" name="Google Shape;134;p17"/>
          <p:cNvSpPr txBox="1">
            <a:spLocks noGrp="1"/>
          </p:cNvSpPr>
          <p:nvPr>
            <p:ph type="body" idx="1"/>
          </p:nvPr>
        </p:nvSpPr>
        <p:spPr>
          <a:xfrm>
            <a:off x="662025" y="1646525"/>
            <a:ext cx="8101800" cy="547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3000" dirty="0"/>
              <a:t>Participants should prepare background in:</a:t>
            </a:r>
            <a:endParaRPr sz="3000" dirty="0"/>
          </a:p>
          <a:p>
            <a:pPr marL="0" lvl="0" indent="0" algn="l" rtl="0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 sz="3000" dirty="0"/>
          </a:p>
          <a:p>
            <a:pPr marL="457200" lvl="0" indent="-346075" algn="l" rtl="0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50"/>
              <a:buChar char="❖"/>
            </a:pPr>
            <a:r>
              <a:rPr lang="en-US" sz="3000" dirty="0"/>
              <a:t>Python programming </a:t>
            </a:r>
            <a:endParaRPr sz="3000" dirty="0"/>
          </a:p>
          <a:p>
            <a:pPr marL="914400" lvl="1" indent="-3175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-US" sz="2400" dirty="0"/>
              <a:t>scripting, file handling, package management</a:t>
            </a:r>
            <a:endParaRPr sz="2400" dirty="0"/>
          </a:p>
          <a:p>
            <a:pPr marL="914400" lvl="1" indent="-3175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-US" sz="2400" b="1" dirty="0"/>
              <a:t>Tools</a:t>
            </a:r>
            <a:r>
              <a:rPr lang="en-US" sz="2400" dirty="0"/>
              <a:t>: </a:t>
            </a:r>
            <a:r>
              <a:rPr lang="en-US" sz="2400" b="1" dirty="0"/>
              <a:t>Python</a:t>
            </a:r>
            <a:r>
              <a:rPr lang="en-US" sz="2400" dirty="0"/>
              <a:t>, virtual environments, Git</a:t>
            </a:r>
            <a:endParaRPr sz="2400" dirty="0"/>
          </a:p>
          <a:p>
            <a:pPr marL="914400" lvl="0" indent="0" algn="l" rtl="0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-346075" algn="l" rtl="0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50"/>
              <a:buChar char="❖"/>
            </a:pPr>
            <a:r>
              <a:rPr lang="en-US" sz="3000" dirty="0"/>
              <a:t>Linux / command line</a:t>
            </a:r>
            <a:endParaRPr sz="3000" dirty="0"/>
          </a:p>
          <a:p>
            <a:pPr marL="914400" lvl="1" indent="-3175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-US" sz="2400" dirty="0"/>
              <a:t>terminal usage, bash basics, SSH</a:t>
            </a:r>
            <a:endParaRPr sz="2400" dirty="0"/>
          </a:p>
          <a:p>
            <a:pPr marL="914400" lvl="1" indent="-3175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-US" sz="2400" b="1" dirty="0"/>
              <a:t>Tools</a:t>
            </a:r>
            <a:r>
              <a:rPr lang="en-US" sz="2400" dirty="0"/>
              <a:t>: </a:t>
            </a:r>
            <a:r>
              <a:rPr lang="en-US" sz="2400" b="1" dirty="0"/>
              <a:t>Linux shell</a:t>
            </a:r>
            <a:r>
              <a:rPr lang="en-US" sz="2400" dirty="0"/>
              <a:t>, bash, SSH</a:t>
            </a:r>
            <a:endParaRPr sz="2400" dirty="0"/>
          </a:p>
          <a:p>
            <a:pPr marL="457200" lvl="0" indent="0" algn="l" rtl="0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 sz="3000" dirty="0"/>
          </a:p>
          <a:p>
            <a:pPr marL="457200" lvl="0" indent="-346075" algn="l" rtl="0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50"/>
              <a:buChar char="❖"/>
            </a:pPr>
            <a:r>
              <a:rPr lang="en-US" sz="3000" dirty="0"/>
              <a:t>Workflow / DAG basics</a:t>
            </a:r>
            <a:endParaRPr sz="3000" dirty="0"/>
          </a:p>
          <a:p>
            <a:pPr marL="914400" lvl="1" indent="-3175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-US" sz="2400" b="1" dirty="0"/>
              <a:t>task dependencies, topological order, ready tasks</a:t>
            </a:r>
            <a:endParaRPr sz="2400" b="1" dirty="0"/>
          </a:p>
        </p:txBody>
      </p:sp>
      <p:sp>
        <p:nvSpPr>
          <p:cNvPr id="135" name="Google Shape;135;p17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Background / Tools to Prepare (contd.)</a:t>
            </a:r>
            <a:endParaRPr/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1"/>
          </p:nvPr>
        </p:nvSpPr>
        <p:spPr>
          <a:xfrm>
            <a:off x="768100" y="1609950"/>
            <a:ext cx="7995600" cy="547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800" dirty="0"/>
              <a:t>Participants should prepare background in:</a:t>
            </a:r>
            <a:endParaRPr sz="2800" dirty="0"/>
          </a:p>
          <a:p>
            <a:pPr marL="0" lvl="0" indent="0" algn="l" rtl="0">
              <a:lnSpc>
                <a:spcPct val="75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 sz="2800" dirty="0"/>
          </a:p>
          <a:p>
            <a:pPr marL="457200" lvl="0" indent="-339725" algn="l" rtl="0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750"/>
              <a:buChar char="❖"/>
            </a:pPr>
            <a:r>
              <a:rPr lang="en-US" sz="2900" dirty="0"/>
              <a:t>Data preprocessing</a:t>
            </a:r>
            <a:endParaRPr sz="2900" dirty="0"/>
          </a:p>
          <a:p>
            <a:pPr marL="914400" lvl="1" indent="-31115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en-US" sz="2300" dirty="0"/>
              <a:t>image loading, resizing, normalization</a:t>
            </a:r>
            <a:endParaRPr sz="2300" dirty="0"/>
          </a:p>
          <a:p>
            <a:pPr marL="914400" lvl="1" indent="-31115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en-US" sz="2300" b="1" dirty="0"/>
              <a:t>Tools</a:t>
            </a:r>
            <a:r>
              <a:rPr lang="en-US" sz="2300" dirty="0"/>
              <a:t>: </a:t>
            </a:r>
            <a:r>
              <a:rPr lang="en-US" sz="2300" b="1" dirty="0"/>
              <a:t>NumPy</a:t>
            </a:r>
            <a:r>
              <a:rPr lang="en-US" sz="2300" dirty="0"/>
              <a:t>, </a:t>
            </a:r>
            <a:r>
              <a:rPr lang="en-US" sz="2300" b="1" dirty="0"/>
              <a:t>Pandas</a:t>
            </a:r>
            <a:endParaRPr sz="2300" dirty="0"/>
          </a:p>
          <a:p>
            <a:pPr marL="914400" lvl="0" indent="0" algn="l" rtl="0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 sz="2300" dirty="0"/>
          </a:p>
          <a:p>
            <a:pPr marL="457200" lvl="0" indent="-339725" algn="l" rtl="0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750"/>
              <a:buChar char="❖"/>
            </a:pPr>
            <a:r>
              <a:rPr lang="en-US" sz="2900" dirty="0"/>
              <a:t>Off-the-shelf ML inference</a:t>
            </a:r>
            <a:endParaRPr sz="2900" dirty="0"/>
          </a:p>
          <a:p>
            <a:pPr marL="914400" lvl="1" indent="-31115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en-US" sz="2300" dirty="0"/>
              <a:t>running pretrained models, understanding input/outputs</a:t>
            </a:r>
            <a:endParaRPr sz="2300" dirty="0"/>
          </a:p>
          <a:p>
            <a:pPr marL="914400" lvl="1" indent="-31115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en-US" sz="2300" b="1" dirty="0"/>
              <a:t>Tools</a:t>
            </a:r>
            <a:r>
              <a:rPr lang="en-US" sz="2300" dirty="0"/>
              <a:t>: </a:t>
            </a:r>
            <a:r>
              <a:rPr lang="en-US" sz="2300" dirty="0" err="1"/>
              <a:t>Ultralytics</a:t>
            </a:r>
            <a:r>
              <a:rPr lang="en-US" sz="2300" dirty="0"/>
              <a:t> YOLO, Hugging Face, basic (scikit-learn, </a:t>
            </a:r>
            <a:r>
              <a:rPr lang="en-US" sz="2300" dirty="0" err="1"/>
              <a:t>tensorflow</a:t>
            </a:r>
            <a:r>
              <a:rPr lang="en-US" sz="2300" dirty="0"/>
              <a:t>, </a:t>
            </a:r>
            <a:r>
              <a:rPr lang="en-US" sz="2300" dirty="0" err="1"/>
              <a:t>keras</a:t>
            </a:r>
            <a:r>
              <a:rPr lang="en-US" sz="2300" dirty="0"/>
              <a:t>, </a:t>
            </a:r>
            <a:r>
              <a:rPr lang="en-US" sz="2300" dirty="0" err="1"/>
              <a:t>PyTorch</a:t>
            </a:r>
            <a:r>
              <a:rPr lang="en-US" sz="2300" dirty="0"/>
              <a:t>) familiarity is helpful</a:t>
            </a:r>
            <a:endParaRPr sz="2300" dirty="0"/>
          </a:p>
          <a:p>
            <a:pPr marL="914400" lvl="0" indent="0" algn="l" rtl="0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 sz="2300" dirty="0"/>
          </a:p>
          <a:p>
            <a:pPr marL="457200" lvl="0" indent="-339725" algn="l" rtl="0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750"/>
              <a:buChar char="❖"/>
            </a:pPr>
            <a:r>
              <a:rPr lang="en-US" sz="2900" dirty="0"/>
              <a:t>Profiling / evaluation</a:t>
            </a:r>
            <a:endParaRPr sz="2900" dirty="0"/>
          </a:p>
          <a:p>
            <a:pPr marL="914400" lvl="1" indent="-31115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en-US" sz="2300" dirty="0"/>
              <a:t>runtime measurement, logging, result analysis</a:t>
            </a:r>
            <a:endParaRPr sz="2300" dirty="0"/>
          </a:p>
          <a:p>
            <a:pPr marL="914400" lvl="1" indent="-31115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en-US" sz="2300" b="1" dirty="0"/>
              <a:t>Tools</a:t>
            </a:r>
            <a:r>
              <a:rPr lang="en-US" sz="2300" dirty="0"/>
              <a:t>: Python time, Pandas, matplotlib</a:t>
            </a:r>
            <a:endParaRPr dirty="0"/>
          </a:p>
        </p:txBody>
      </p:sp>
      <p:sp>
        <p:nvSpPr>
          <p:cNvPr id="143" name="Google Shape;143;p18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Team Roles</a:t>
            </a:r>
            <a:endParaRPr/>
          </a:p>
        </p:txBody>
      </p:sp>
      <p:sp>
        <p:nvSpPr>
          <p:cNvPr id="150" name="Google Shape;150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71475" algn="l" rtl="0">
              <a:spcBef>
                <a:spcPts val="360"/>
              </a:spcBef>
              <a:spcAft>
                <a:spcPts val="0"/>
              </a:spcAft>
              <a:buSzPts val="2250"/>
              <a:buChar char="❖"/>
            </a:pPr>
            <a:r>
              <a:rPr lang="en-US" dirty="0"/>
              <a:t>John Hart (1) &amp; Precious </a:t>
            </a:r>
            <a:r>
              <a:rPr lang="en-US" dirty="0" err="1"/>
              <a:t>Sanyaolu</a:t>
            </a:r>
            <a:r>
              <a:rPr lang="en-US" dirty="0"/>
              <a:t> (2)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dirty="0"/>
              <a:t>create DAG benchmark dataset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dirty="0"/>
              <a:t>run profiling experiments</a:t>
            </a:r>
            <a:endParaRPr dirty="0"/>
          </a:p>
          <a:p>
            <a:pPr marL="9144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71475" algn="l" rtl="0">
              <a:spcBef>
                <a:spcPts val="360"/>
              </a:spcBef>
              <a:spcAft>
                <a:spcPts val="0"/>
              </a:spcAft>
              <a:buSzPts val="2250"/>
              <a:buChar char="❖"/>
            </a:pPr>
            <a:r>
              <a:rPr lang="en-US" dirty="0" err="1"/>
              <a:t>Charlemon</a:t>
            </a:r>
            <a:r>
              <a:rPr lang="en-US" dirty="0"/>
              <a:t> London (3)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dirty="0"/>
              <a:t>Implementing the greedy/MILP methods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dirty="0"/>
              <a:t>finding ready workflow (testbed)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dirty="0"/>
              <a:t>scheduler validation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dirty="0"/>
              <a:t>fine-tune approximate scheduling</a:t>
            </a:r>
            <a:endParaRPr dirty="0"/>
          </a:p>
        </p:txBody>
      </p:sp>
      <p:sp>
        <p:nvSpPr>
          <p:cNvPr id="151" name="Google Shape;151;p19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Timeline</a:t>
            </a:r>
            <a:endParaRPr/>
          </a:p>
        </p:txBody>
      </p:sp>
      <p:sp>
        <p:nvSpPr>
          <p:cNvPr id="158" name="Google Shape;158;p20"/>
          <p:cNvSpPr txBox="1">
            <a:spLocks noGrp="1"/>
          </p:cNvSpPr>
          <p:nvPr>
            <p:ph type="body" idx="1"/>
          </p:nvPr>
        </p:nvSpPr>
        <p:spPr>
          <a:xfrm>
            <a:off x="532312" y="1380744"/>
            <a:ext cx="8065200" cy="5257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897" algn="l" rtl="0">
              <a:spcBef>
                <a:spcPts val="360"/>
              </a:spcBef>
              <a:spcAft>
                <a:spcPts val="0"/>
              </a:spcAft>
              <a:buSzPct val="81674"/>
              <a:buChar char="❖"/>
            </a:pPr>
            <a:r>
              <a:rPr lang="en-US" sz="2000" b="1" dirty="0"/>
              <a:t>Pre-visit and Phase 1</a:t>
            </a:r>
            <a:r>
              <a:rPr lang="en-US" sz="2000" dirty="0"/>
              <a:t> (Weeks 1–2): </a:t>
            </a:r>
            <a:r>
              <a:rPr lang="en-US" sz="1600" dirty="0"/>
              <a:t>gain background, literature review, workflow design</a:t>
            </a:r>
            <a:endParaRPr sz="1600" dirty="0"/>
          </a:p>
          <a:p>
            <a:pPr marL="914400" lvl="1" indent="-30003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sz="1800" dirty="0"/>
              <a:t>learn tool if you are unfamiliar (slide 11, 12) </a:t>
            </a:r>
            <a:endParaRPr sz="1800" dirty="0"/>
          </a:p>
          <a:p>
            <a:pPr marL="914400" lvl="1" indent="-30003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sz="1800" dirty="0"/>
              <a:t>understand papers </a:t>
            </a:r>
            <a:endParaRPr sz="1800" dirty="0"/>
          </a:p>
          <a:p>
            <a:pPr marL="914400" lvl="1" indent="-30003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sz="1800" dirty="0"/>
              <a:t>define workflows</a:t>
            </a:r>
            <a:endParaRPr sz="1800" dirty="0"/>
          </a:p>
          <a:p>
            <a:pPr marL="914400" lvl="1" indent="-30003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sz="1800" dirty="0"/>
              <a:t>setup dataset format</a:t>
            </a:r>
            <a:endParaRPr sz="2400" dirty="0"/>
          </a:p>
          <a:p>
            <a:pPr marL="457200" lvl="0" indent="-317897" algn="l" rtl="0">
              <a:spcBef>
                <a:spcPts val="360"/>
              </a:spcBef>
              <a:spcAft>
                <a:spcPts val="0"/>
              </a:spcAft>
              <a:buSzPct val="81674"/>
              <a:buChar char="❖"/>
            </a:pPr>
            <a:r>
              <a:rPr lang="en-US" sz="2000" b="1" dirty="0"/>
              <a:t>Phase 2</a:t>
            </a:r>
            <a:r>
              <a:rPr lang="en-US" sz="2000" dirty="0"/>
              <a:t> (Weeks 3–6): </a:t>
            </a:r>
            <a:r>
              <a:rPr lang="en-US" sz="1600" dirty="0"/>
              <a:t>profiling and dataset generation</a:t>
            </a:r>
            <a:endParaRPr sz="1600" dirty="0"/>
          </a:p>
          <a:p>
            <a:pPr marL="914400" lvl="1" indent="-30003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sz="1800" b="1" dirty="0"/>
              <a:t>s1, s2</a:t>
            </a:r>
            <a:r>
              <a:rPr lang="en-US" sz="1800" dirty="0"/>
              <a:t>: collect profiling data</a:t>
            </a:r>
            <a:endParaRPr sz="1800" dirty="0"/>
          </a:p>
          <a:p>
            <a:pPr marL="914400" lvl="1" indent="-30003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sz="1800" b="1" dirty="0"/>
              <a:t>s1, s2</a:t>
            </a:r>
            <a:r>
              <a:rPr lang="en-US" sz="1800" dirty="0"/>
              <a:t>: setup testbed</a:t>
            </a:r>
            <a:endParaRPr sz="1800" dirty="0"/>
          </a:p>
          <a:p>
            <a:pPr marL="914400" lvl="1" indent="-30003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sz="1800" b="1" dirty="0"/>
              <a:t>s3</a:t>
            </a:r>
            <a:r>
              <a:rPr lang="en-US" sz="1800" dirty="0"/>
              <a:t>: start with implementation</a:t>
            </a:r>
            <a:endParaRPr sz="2400" dirty="0"/>
          </a:p>
          <a:p>
            <a:pPr marL="457200" lvl="0" indent="-317897" algn="l" rtl="0">
              <a:spcBef>
                <a:spcPts val="360"/>
              </a:spcBef>
              <a:spcAft>
                <a:spcPts val="0"/>
              </a:spcAft>
              <a:buSzPct val="86142"/>
              <a:buChar char="❖"/>
            </a:pPr>
            <a:r>
              <a:rPr lang="en-US" sz="2000" b="1" dirty="0"/>
              <a:t>Phase 3</a:t>
            </a:r>
            <a:r>
              <a:rPr lang="en-US" sz="2000" dirty="0"/>
              <a:t> (Weeks 6–8): </a:t>
            </a:r>
            <a:r>
              <a:rPr lang="en-US" sz="1600" dirty="0"/>
              <a:t>scheduler validation experiments</a:t>
            </a:r>
            <a:endParaRPr sz="1600" dirty="0"/>
          </a:p>
          <a:p>
            <a:pPr marL="914400" lvl="1" indent="-30003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sz="1800" b="1" dirty="0"/>
              <a:t>s1, s2</a:t>
            </a:r>
            <a:r>
              <a:rPr lang="en-US" sz="1800" dirty="0"/>
              <a:t>: workflow - 3</a:t>
            </a:r>
            <a:endParaRPr sz="1800" dirty="0"/>
          </a:p>
          <a:p>
            <a:pPr marL="914400" lvl="1" indent="-30003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sz="1800" b="1" dirty="0"/>
              <a:t>s3</a:t>
            </a:r>
            <a:r>
              <a:rPr lang="en-US" sz="1800" dirty="0"/>
              <a:t>: run scheduler experiments</a:t>
            </a:r>
            <a:endParaRPr sz="1800" dirty="0"/>
          </a:p>
          <a:p>
            <a:pPr marL="914400" lvl="1" indent="-30003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sz="1800" b="1" dirty="0"/>
              <a:t>s3</a:t>
            </a:r>
            <a:r>
              <a:rPr lang="en-US" sz="1800" dirty="0"/>
              <a:t>: analyze results</a:t>
            </a:r>
            <a:endParaRPr sz="1800" dirty="0"/>
          </a:p>
          <a:p>
            <a:pPr marL="914400" lvl="1" indent="-30003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sz="1800" b="1" dirty="0"/>
              <a:t>s1, s2, s3</a:t>
            </a:r>
            <a:r>
              <a:rPr lang="en-US" sz="1800" dirty="0"/>
              <a:t>: prepare final report/presentation/survey</a:t>
            </a:r>
            <a:r>
              <a:rPr lang="en-US" sz="2400" dirty="0"/>
              <a:t> </a:t>
            </a:r>
            <a:endParaRPr sz="2400" dirty="0"/>
          </a:p>
          <a:p>
            <a:pPr marL="457200" lvl="0" indent="-317897" algn="l" rtl="0">
              <a:spcBef>
                <a:spcPts val="360"/>
              </a:spcBef>
              <a:spcAft>
                <a:spcPts val="0"/>
              </a:spcAft>
              <a:buSzPct val="85688"/>
              <a:buChar char="❖"/>
            </a:pPr>
            <a:r>
              <a:rPr lang="en-US" sz="2000" b="1" dirty="0"/>
              <a:t>Post visit / Phase 4</a:t>
            </a:r>
            <a:r>
              <a:rPr lang="en-US" sz="2000" dirty="0"/>
              <a:t>: </a:t>
            </a:r>
            <a:endParaRPr sz="1600" dirty="0"/>
          </a:p>
          <a:p>
            <a:pPr marL="914400" lvl="1" indent="-30003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sz="1600" dirty="0"/>
              <a:t>improve scheduling approach</a:t>
            </a:r>
            <a:endParaRPr sz="1600" dirty="0"/>
          </a:p>
          <a:p>
            <a:pPr marL="914400" lvl="1" indent="-30003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sz="1600" dirty="0"/>
              <a:t>write paper</a:t>
            </a:r>
            <a:endParaRPr sz="1600" dirty="0"/>
          </a:p>
        </p:txBody>
      </p:sp>
      <p:sp>
        <p:nvSpPr>
          <p:cNvPr id="159" name="Google Shape;159;p20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Expected Outcomes</a:t>
            </a:r>
            <a:endParaRPr dirty="0"/>
          </a:p>
        </p:txBody>
      </p:sp>
      <p:sp>
        <p:nvSpPr>
          <p:cNvPr id="166" name="Google Shape;166;p21"/>
          <p:cNvSpPr txBox="1">
            <a:spLocks noGrp="1"/>
          </p:cNvSpPr>
          <p:nvPr>
            <p:ph type="body" idx="1"/>
          </p:nvPr>
        </p:nvSpPr>
        <p:spPr>
          <a:xfrm>
            <a:off x="1815900" y="2090376"/>
            <a:ext cx="5512200" cy="3207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71475" algn="l" rtl="0">
              <a:spcBef>
                <a:spcPts val="360"/>
              </a:spcBef>
              <a:spcAft>
                <a:spcPts val="0"/>
              </a:spcAft>
              <a:buSzPts val="2250"/>
              <a:buChar char="❖"/>
            </a:pPr>
            <a:r>
              <a:rPr lang="en-US" dirty="0"/>
              <a:t>Benchmark DAG dataset</a:t>
            </a:r>
            <a:endParaRPr dirty="0"/>
          </a:p>
          <a:p>
            <a:pPr marL="457200" lvl="0" indent="-371475" algn="l" rtl="0">
              <a:spcBef>
                <a:spcPts val="0"/>
              </a:spcBef>
              <a:spcAft>
                <a:spcPts val="0"/>
              </a:spcAft>
              <a:buSzPts val="2250"/>
              <a:buChar char="❖"/>
            </a:pPr>
            <a:r>
              <a:rPr lang="en-US" dirty="0"/>
              <a:t>Profiling dataset</a:t>
            </a:r>
            <a:endParaRPr dirty="0"/>
          </a:p>
          <a:p>
            <a:pPr marL="457200" lvl="0" indent="-371475" algn="l" rtl="0">
              <a:spcBef>
                <a:spcPts val="0"/>
              </a:spcBef>
              <a:spcAft>
                <a:spcPts val="0"/>
              </a:spcAft>
              <a:buSzPts val="2250"/>
              <a:buChar char="❖"/>
            </a:pPr>
            <a:r>
              <a:rPr lang="en-US" dirty="0"/>
              <a:t>Validation results</a:t>
            </a:r>
            <a:endParaRPr dirty="0"/>
          </a:p>
          <a:p>
            <a:pPr marL="457200" lvl="0" indent="-371475" algn="l" rtl="0">
              <a:spcBef>
                <a:spcPts val="0"/>
              </a:spcBef>
              <a:spcAft>
                <a:spcPts val="0"/>
              </a:spcAft>
              <a:buSzPts val="2250"/>
              <a:buChar char="❖"/>
            </a:pPr>
            <a:r>
              <a:rPr lang="en-US" dirty="0"/>
              <a:t>Tuned scheduler / insights</a:t>
            </a:r>
            <a:endParaRPr dirty="0"/>
          </a:p>
          <a:p>
            <a:pPr marL="457200" lvl="0" indent="-371475" algn="l" rtl="0">
              <a:spcBef>
                <a:spcPts val="0"/>
              </a:spcBef>
              <a:spcAft>
                <a:spcPts val="0"/>
              </a:spcAft>
              <a:buSzPts val="2250"/>
              <a:buChar char="❖"/>
            </a:pPr>
            <a:r>
              <a:rPr lang="en-US" dirty="0"/>
              <a:t>Report or paper draft</a:t>
            </a:r>
            <a:endParaRPr dirty="0"/>
          </a:p>
        </p:txBody>
      </p:sp>
      <p:sp>
        <p:nvSpPr>
          <p:cNvPr id="167" name="Google Shape;167;p21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3A344-A8F0-7D64-7F8E-5373EBF3E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Candidate Workflow: IoT Cloud Data Pipeline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F2ACF1-6B66-2018-E6CE-571573771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" y="1600199"/>
            <a:ext cx="9144000" cy="4756151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v"/>
            </a:pPr>
            <a:r>
              <a:rPr lang="en-US" sz="3200" b="1" dirty="0"/>
              <a:t>Ready-made Docker Compose-based</a:t>
            </a:r>
            <a:r>
              <a:rPr lang="en-US" sz="3200" dirty="0"/>
              <a:t> IoT workflow</a:t>
            </a:r>
          </a:p>
          <a:p>
            <a:pPr>
              <a:buFont typeface="Wingdings" pitchFamily="2" charset="2"/>
              <a:buChar char="v"/>
            </a:pPr>
            <a:r>
              <a:rPr lang="en-US" sz="3200" b="1" dirty="0"/>
              <a:t>Focus</a:t>
            </a:r>
            <a:r>
              <a:rPr lang="en-US" sz="3200" dirty="0"/>
              <a:t>: local IoT data pipeline execution</a:t>
            </a:r>
          </a:p>
          <a:p>
            <a:pPr>
              <a:buFont typeface="Wingdings" pitchFamily="2" charset="2"/>
              <a:buChar char="v"/>
            </a:pPr>
            <a:r>
              <a:rPr lang="en-US" sz="3200" dirty="0"/>
              <a:t>Uses multiple containerized services</a:t>
            </a:r>
          </a:p>
          <a:p>
            <a:pPr>
              <a:buFont typeface="Wingdings" pitchFamily="2" charset="2"/>
              <a:buChar char="v"/>
            </a:pPr>
            <a:r>
              <a:rPr lang="en-US" sz="3200" dirty="0"/>
              <a:t>No AWS/Azure setup required</a:t>
            </a:r>
          </a:p>
          <a:p>
            <a:pPr>
              <a:buFont typeface="Wingdings" pitchFamily="2" charset="2"/>
              <a:buChar char="v"/>
            </a:pPr>
            <a:r>
              <a:rPr lang="en-US" sz="3200" dirty="0"/>
              <a:t>Suitable for profiling runtime and communication delay</a:t>
            </a:r>
          </a:p>
          <a:p>
            <a:pPr>
              <a:buFont typeface="Wingdings" pitchFamily="2" charset="2"/>
              <a:buChar char="v"/>
            </a:pPr>
            <a:r>
              <a:rPr lang="en-US" sz="3200" dirty="0"/>
              <a:t>Link: </a:t>
            </a:r>
            <a:r>
              <a:rPr lang="en-US" sz="3200" dirty="0">
                <a:hlinkClick r:id="rId2"/>
              </a:rPr>
              <a:t>https://github.com/daleonpz/iot_cloud_infrastructure</a:t>
            </a:r>
            <a:endParaRPr lang="en-US" sz="3200" dirty="0"/>
          </a:p>
          <a:p>
            <a:pPr>
              <a:buFont typeface="Wingdings" pitchFamily="2" charset="2"/>
              <a:buChar char="v"/>
            </a:pP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C13FB-443F-0152-C5B6-E03638566F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964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99ED2-6FA0-D82B-D473-CCB2F7718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Workflow Components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A4605A-363B-96F4-EEA6-4841DAEE9E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US" dirty="0"/>
              <a:t>MQTT Broker: receives IoT sensor data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MQTT Agent: subscribes and stores data</a:t>
            </a:r>
          </a:p>
          <a:p>
            <a:pPr>
              <a:buFont typeface="Wingdings" pitchFamily="2" charset="2"/>
              <a:buChar char="v"/>
            </a:pPr>
            <a:r>
              <a:rPr lang="en-US" dirty="0" err="1"/>
              <a:t>MinIO</a:t>
            </a:r>
            <a:r>
              <a:rPr lang="en-US" dirty="0"/>
              <a:t>: raw data lake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Airflow: workflow orchestration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ELT: transforms raw data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Cassandra: stores cleaned data</a:t>
            </a:r>
          </a:p>
          <a:p>
            <a:pPr>
              <a:buFont typeface="Wingdings" pitchFamily="2" charset="2"/>
              <a:buChar char="v"/>
            </a:pPr>
            <a:r>
              <a:rPr lang="en-US" dirty="0" err="1"/>
              <a:t>FastAPI</a:t>
            </a:r>
            <a:r>
              <a:rPr lang="en-US" dirty="0"/>
              <a:t>: exposes data through REST API</a:t>
            </a:r>
          </a:p>
          <a:p>
            <a:pPr>
              <a:buFont typeface="Wingdings" pitchFamily="2" charset="2"/>
              <a:buChar char="v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0DD28-2220-BFA3-D989-42A5C27FD3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933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17F6A-0AFD-E4BE-AD17-33CE1E2AA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DAG Representation and Workflow Components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950C6-68C9-0216-55E9-D89A475F87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815F31-4B86-1AA7-CD3F-2E4F88F7C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565" y="1571154"/>
            <a:ext cx="6160654" cy="30918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5523B3-1DBB-E6C5-8CCE-2A108DAF7D5C}"/>
              </a:ext>
            </a:extLst>
          </p:cNvPr>
          <p:cNvSpPr txBox="1"/>
          <p:nvPr/>
        </p:nvSpPr>
        <p:spPr>
          <a:xfrm>
            <a:off x="2854036" y="4730071"/>
            <a:ext cx="4147128" cy="1991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US" b="1" dirty="0"/>
              <a:t>MQTT Broker</a:t>
            </a:r>
            <a:r>
              <a:rPr lang="en-US" dirty="0"/>
              <a:t>: receives IoT sensor data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US" b="1" dirty="0"/>
              <a:t>MQTT Agent</a:t>
            </a:r>
            <a:r>
              <a:rPr lang="en-US" dirty="0"/>
              <a:t>: subscribes and stores data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US" b="1" dirty="0" err="1"/>
              <a:t>MinIO</a:t>
            </a:r>
            <a:r>
              <a:rPr lang="en-US" dirty="0"/>
              <a:t>: raw data lake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US" b="1" dirty="0"/>
              <a:t>Airflow</a:t>
            </a:r>
            <a:r>
              <a:rPr lang="en-US" dirty="0"/>
              <a:t>: workflow orchestration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US" b="1" dirty="0"/>
              <a:t>ELT</a:t>
            </a:r>
            <a:r>
              <a:rPr lang="en-US" dirty="0"/>
              <a:t>: transforms raw data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US" b="1" dirty="0"/>
              <a:t>Cassandra</a:t>
            </a:r>
            <a:r>
              <a:rPr lang="en-US" dirty="0"/>
              <a:t>: stores cleaned data</a:t>
            </a:r>
          </a:p>
        </p:txBody>
      </p:sp>
    </p:spTree>
    <p:extLst>
      <p:ext uri="{BB962C8B-B14F-4D97-AF65-F5344CB8AC3E}">
        <p14:creationId xmlns:p14="http://schemas.microsoft.com/office/powerpoint/2010/main" val="3333773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66EC8-1FC2-7C47-34B0-5FA600586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73AC-3428-E125-A06A-517FE1D33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DAG Representation and Workflow Components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9356F-C612-FD85-9B36-24002D4C72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DBC163-ABA5-0467-A3D6-B78B7793D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765" y="1529386"/>
            <a:ext cx="5929744" cy="29759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4BA5BD-1AC3-E76E-C4C0-EE313186C555}"/>
              </a:ext>
            </a:extLst>
          </p:cNvPr>
          <p:cNvSpPr txBox="1"/>
          <p:nvPr/>
        </p:nvSpPr>
        <p:spPr>
          <a:xfrm>
            <a:off x="2625275" y="4688136"/>
            <a:ext cx="6012874" cy="2314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/>
              <a:t>A device sends a small telemetry message. Example:</a:t>
            </a:r>
            <a:br>
              <a:rPr lang="en-US" dirty="0"/>
            </a:br>
            <a:r>
              <a:rPr lang="en-US" dirty="0"/>
              <a:t>	          {</a:t>
            </a:r>
            <a:br>
              <a:rPr lang="en-US" dirty="0"/>
            </a:br>
            <a:r>
              <a:rPr lang="en-US" dirty="0"/>
              <a:t>		"temperature": 72F,</a:t>
            </a:r>
            <a:br>
              <a:rPr lang="en-US" dirty="0"/>
            </a:br>
            <a:r>
              <a:rPr lang="en-US" dirty="0"/>
              <a:t>		"</a:t>
            </a:r>
            <a:r>
              <a:rPr lang="en-US" dirty="0" err="1"/>
              <a:t>battery_level</a:t>
            </a:r>
            <a:r>
              <a:rPr lang="en-US" dirty="0"/>
              <a:t>": 4200 (raw value)</a:t>
            </a:r>
            <a:br>
              <a:rPr lang="en-US" dirty="0"/>
            </a:br>
            <a:r>
              <a:rPr lang="en-US" dirty="0"/>
              <a:t>	           }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/>
              <a:t>MQTT Broker receives the sensor data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3985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44BFA-7C10-9691-182D-FCC0318AC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D83C7-4469-02C2-381D-9A85A7804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DAG Representation and Workflow Components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701DF-BB42-15A2-0D8B-AF6604CAC7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48A80B-A969-5470-B8F3-BE2689500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765" y="1529386"/>
            <a:ext cx="5929744" cy="29759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7073DA-C788-7723-67D0-F58DFBBD8F20}"/>
              </a:ext>
            </a:extLst>
          </p:cNvPr>
          <p:cNvSpPr txBox="1"/>
          <p:nvPr/>
        </p:nvSpPr>
        <p:spPr>
          <a:xfrm>
            <a:off x="2535382" y="4505321"/>
            <a:ext cx="6012874" cy="2314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/>
              <a:t>MQTT Agent subscribes to the data topic receives the data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/>
              <a:t>Raw data is stored in the Data Lake/</a:t>
            </a:r>
            <a:r>
              <a:rPr lang="en-US" dirty="0" err="1"/>
              <a:t>MinIO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/>
              <a:t>Transformation component processes the raw data. Transformer cleans/converts the data. Example:</a:t>
            </a:r>
          </a:p>
          <a:p>
            <a:pPr>
              <a:lnSpc>
                <a:spcPct val="150000"/>
              </a:lnSpc>
            </a:pPr>
            <a:r>
              <a:rPr lang="en-US" dirty="0"/>
              <a:t>	72 Fahrenheit -&gt; 22.22222 Celsius</a:t>
            </a:r>
          </a:p>
          <a:p>
            <a:pPr>
              <a:lnSpc>
                <a:spcPct val="150000"/>
              </a:lnSpc>
            </a:pPr>
            <a:r>
              <a:rPr lang="en-US" dirty="0"/>
              <a:t>	4200 battery units -&gt; 84%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5129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3DD2C-6BF8-C9F4-C599-B4D39546F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32DC5-2AA3-7545-37D2-CCCBFBA75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DAG Representation and Workflow Components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9834B-9629-6FC0-7AA7-6B78E1FA68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1504E1-5E27-54B7-994B-224508768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765" y="1529386"/>
            <a:ext cx="5929744" cy="29759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78A6A2-0578-A2FB-D3E7-F9FFCB78D830}"/>
              </a:ext>
            </a:extLst>
          </p:cNvPr>
          <p:cNvSpPr txBox="1"/>
          <p:nvPr/>
        </p:nvSpPr>
        <p:spPr>
          <a:xfrm>
            <a:off x="2341417" y="4582442"/>
            <a:ext cx="6012874" cy="698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/>
              <a:t>Cleaned data is stored in the Database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/>
              <a:t>Final data can be used for analytics or ML applications</a:t>
            </a:r>
          </a:p>
        </p:txBody>
      </p:sp>
    </p:spTree>
    <p:extLst>
      <p:ext uri="{BB962C8B-B14F-4D97-AF65-F5344CB8AC3E}">
        <p14:creationId xmlns:p14="http://schemas.microsoft.com/office/powerpoint/2010/main" val="38922351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BAF32-04E9-6A59-2E4B-A413C26F3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Useful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89E9AB-F4EE-212E-B937-1706F2DD3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599" y="1830250"/>
            <a:ext cx="8915401" cy="45261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3000" dirty="0"/>
              <a:t>Each component can be treated as a DAG task</a:t>
            </a:r>
          </a:p>
          <a:p>
            <a:pPr>
              <a:buFont typeface="Wingdings" pitchFamily="2" charset="2"/>
              <a:buChar char="v"/>
            </a:pPr>
            <a:r>
              <a:rPr lang="en-US" sz="3000" dirty="0"/>
              <a:t>Each data transfer becomes a dependency edge</a:t>
            </a:r>
          </a:p>
          <a:p>
            <a:pPr>
              <a:buFont typeface="Wingdings" pitchFamily="2" charset="2"/>
              <a:buChar char="v"/>
            </a:pPr>
            <a:r>
              <a:rPr lang="en-US" sz="3000" dirty="0"/>
              <a:t>Can measure task runtime per container</a:t>
            </a:r>
          </a:p>
          <a:p>
            <a:pPr>
              <a:buFont typeface="Wingdings" pitchFamily="2" charset="2"/>
              <a:buChar char="v"/>
            </a:pPr>
            <a:r>
              <a:rPr lang="en-US" sz="3000" dirty="0"/>
              <a:t>Can measure communication delay between services</a:t>
            </a:r>
          </a:p>
          <a:p>
            <a:pPr>
              <a:buFont typeface="Wingdings" pitchFamily="2" charset="2"/>
              <a:buChar char="v"/>
            </a:pPr>
            <a:r>
              <a:rPr lang="en-US" sz="3000" dirty="0"/>
              <a:t>Good starting workflow before larger DAGs</a:t>
            </a:r>
          </a:p>
          <a:p>
            <a:pPr>
              <a:buFont typeface="Wingdings" pitchFamily="2" charset="2"/>
              <a:buChar char="v"/>
            </a:pPr>
            <a:endParaRPr lang="en-US" sz="3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8656FD-C253-5401-8AC1-32C2ACAE32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2302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175" name="Google Shape;175;p22" title="Screenshot 2026-04-20 at 12.29.2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2975" y="1651000"/>
            <a:ext cx="6534150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1145</Words>
  <Application>Microsoft Macintosh PowerPoint</Application>
  <PresentationFormat>On-screen Show (4:3)</PresentationFormat>
  <Paragraphs>258</Paragraphs>
  <Slides>23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Wingdings</vt:lpstr>
      <vt:lpstr>1_Office Theme</vt:lpstr>
      <vt:lpstr>1_Office Theme</vt:lpstr>
      <vt:lpstr>Validation of Approximate DAG Processing in Federated Fog Systems</vt:lpstr>
      <vt:lpstr>Motivation</vt:lpstr>
      <vt:lpstr>Scheduling Challenge in Fog Systems</vt:lpstr>
      <vt:lpstr>Project Objectives</vt:lpstr>
      <vt:lpstr>DAG Workflow Model</vt:lpstr>
      <vt:lpstr>Build Benchmark Dataset</vt:lpstr>
      <vt:lpstr>Profiling</vt:lpstr>
      <vt:lpstr>Profiling</vt:lpstr>
      <vt:lpstr>Validation</vt:lpstr>
      <vt:lpstr>Validation</vt:lpstr>
      <vt:lpstr>Background / Tools to Prepare</vt:lpstr>
      <vt:lpstr>Background / Tools to Prepare (contd.)</vt:lpstr>
      <vt:lpstr>Team Roles</vt:lpstr>
      <vt:lpstr>Project Timeline</vt:lpstr>
      <vt:lpstr>Expected Outcomes</vt:lpstr>
      <vt:lpstr>Candidate Workflow: IoT Cloud Data Pipeline</vt:lpstr>
      <vt:lpstr>Workflow Components</vt:lpstr>
      <vt:lpstr>DAG Representation and Workflow Components</vt:lpstr>
      <vt:lpstr>DAG Representation and Workflow Components</vt:lpstr>
      <vt:lpstr>DAG Representation and Workflow Components</vt:lpstr>
      <vt:lpstr>DAG Representation and Workflow Components</vt:lpstr>
      <vt:lpstr>Why Useful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Paul, Tapajit Chandra</cp:lastModifiedBy>
  <cp:revision>14</cp:revision>
  <dcterms:modified xsi:type="dcterms:W3CDTF">2026-05-03T22:01:59Z</dcterms:modified>
</cp:coreProperties>
</file>